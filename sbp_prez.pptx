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280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307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94360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161288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3B6E60"/>
          </a:solidFill>
          <a:ln w="12700">
            <a:solidFill>
              <a:srgbClr val="3B6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612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28216"/>
            <a:ext cx="1783080" cy="384048"/>
          </a:xfrm>
          <a:prstGeom prst="roundRect">
            <a:avLst>
              <a:gd name="adj" fmla="val 14286"/>
            </a:avLst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2821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Vermont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00584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Analiza Google Maps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recenzija biznisa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27889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Modelovanje i analiza u document-orijentisanoj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bazi podataka (MongoDB)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Projekat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Cilj projekta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2920" cy="50292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83210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Modelovanje velikog skupa podataka u document-orijentisanoj MongoDB bazi primenom odgovarajućih šablona.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502920" cy="50292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76479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Importovanje sirovih NDJSON fajlova, transformacija i čišćenje podataka pri unosu.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502920" cy="502920"/>
          </a:xfrm>
          <a:prstGeom prst="rect">
            <a:avLst/>
          </a:prstGeom>
          <a:solidFill>
            <a:srgbClr val="5B6E8A"/>
          </a:solidFill>
          <a:ln w="12700">
            <a:solidFill>
              <a:srgbClr val="5B6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6974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recenzija biznisa iz tri savezne države SAD (Alabama, Alaska, Vermont) putem agregacionih upita.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502920" cy="5029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6301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Unapređenje performansi upita primenom indeksa, šablona proračunavanja i ostalih tehnika optimizacije.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Opis skupa podataka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164592" cy="105156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5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15214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Recenzije i metapodaci biznisa sa Google Maps platforme za tri savezne države SAD.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66544"/>
            <a:ext cx="164592" cy="1051560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30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Izvor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41401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Podaci preuzeti sa: https://mcauleylab.ucsd.edu:8443/public_datasets/gdrive/googlelocal/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28416"/>
            <a:ext cx="164592" cy="1051560"/>
          </a:xfrm>
          <a:prstGeom prst="rect">
            <a:avLst/>
          </a:prstGeom>
          <a:solidFill>
            <a:srgbClr val="5B6E8A"/>
          </a:solidFill>
          <a:ln w="12700">
            <a:solidFill>
              <a:srgbClr val="5B6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92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67588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Newline-Delimited JSON (NDJSON) — svaki red je jedan nezavisni JSON dokument.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0" y="804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Fajlovi dataseta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0" y="1261872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261872"/>
            <a:ext cx="566928" cy="38404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2618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44768" y="12618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meta-Alabama.json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0" y="1783080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783080"/>
            <a:ext cx="566928" cy="38404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7830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44768" y="17830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meta-Alaska.json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0" y="2304288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304288"/>
            <a:ext cx="566928" cy="38404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23042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44768" y="23042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meta-Vermont.json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0" y="2825496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2825496"/>
            <a:ext cx="566928" cy="384048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82549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44768" y="28254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review-Alabama.json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0" y="3346704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3346704"/>
            <a:ext cx="566928" cy="384048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34670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44768" y="33467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review-Alaska.json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0" y="3867912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3867912"/>
            <a:ext cx="566928" cy="384048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386791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44768" y="38679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review-Vermont.json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Veličina i obim dataseta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965960" cy="164592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455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99.032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biznisa / mesta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777240"/>
            <a:ext cx="1965960" cy="16459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8686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~10,87M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50592" y="162763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recenzija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777240"/>
            <a:ext cx="1965960" cy="164592"/>
          </a:xfrm>
          <a:prstGeom prst="rect">
            <a:avLst/>
          </a:prstGeom>
          <a:solidFill>
            <a:srgbClr val="5B6E8A"/>
          </a:solidFill>
          <a:ln w="12700">
            <a:solidFill>
              <a:srgbClr val="5B6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8686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26864" y="162763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NDJSON fajlova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777240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777240"/>
            <a:ext cx="1965960" cy="16459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8686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03136" y="162763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savezne države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Pregled po državama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964354"/>
              </p:ext>
            </p:extLst>
          </p:nvPr>
        </p:nvGraphicFramePr>
        <p:xfrm>
          <a:off x="365760" y="2761488"/>
          <a:ext cx="8412480" cy="2103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Država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Biznisi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Recenzije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Veličina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Alabama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8.967.499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~2.4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Alaska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1.051.246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~280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852.203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~220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UKUPNO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5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5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10.870.948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5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Semantika kolona — Biznisi / Meta fajlovi  (1/2)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41605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Naziv biznisa.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address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Puna adresa — naziv biznisa, ulica, grad, poštanski broj i skraćenica države.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gmap_id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Jedinstveni identifikator mesta na Google Maps-u (prirodni ključ, koristi se kao referenca u recenzijama).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description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Kratak tekstualni opis biznisa koji pruža sam vlasnik; česta vrednost je null.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latitude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Geografska širina lokacije (decimalni stepeni).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longitude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Geografska dužina lokacije (decimalni stepeni).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Niz kategorija kojima biznis pripada, npr. ["Restaurant", "Fast food restaurant", "American restaurant"].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Semantika kolona — Biznisi / Meta fajlovi  (2/2)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4160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avg_rating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Prosečna ocena biznisa na skali od 1.0 do 5.0.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num_of_reviews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Ukupan broj recenzija prikazanih na Google Maps profilu biznisa.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Indikator cenovnog ranga: $, $$, $$$, $$$$ ili null ako nije navedeno.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hours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Niz parova [dan, vreme] koji opisuje radno vreme po danima, npr. [["Monday", "9AM–5PM"], ...].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Rečnik dodatnih atributa grupisanih po kategoriji: Accessibility, Service options, Payments, Atmosphere, Offerings, Planning itd.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Google Maps stranice biznisa.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relative_results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Niz gmap_id vrednosti srodnih / preporučenih biznisa koje Google prikazuje uz ovaj biznis.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 o trenutnom statusu rada biznisa ("Closed · Opens 10AM Fri") — nekonzistentan format, uglavnom se ne koristi direktno.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Semantika kolona — Recenzije / Review fajlovi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41605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user_id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Jedinstveni identifikator korisnika koji je ostavio recenziju (Google nalog ID).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 i prezime korisnika onako kako je prikazano na Google profilu.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Vreme ostavljanja recenzije — Unix timestamp u milisekundama (potrebno konvertovati u ISODate pri importu).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rating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Ocena biznisa na skali od 1 do 5 (ceo broj).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Tekstualni sadržaj recenzije; može biti null ako korisnik nije ostavio komentar.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pics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Niz URL-ova fotografija priloženih uz recenziju; null ako nema priloženih slika.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Odgovor vlasnika biznisa — objekat sa poljima time (timestamp) i text (tekst odgovora); null ako nema odgovora.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gmap_id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Referenca na biznis — strani ključ ka polju gmap_id u kolekciji places.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 zapisa — Biznis (meta fajl)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5303520" cy="4114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Vrednost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Purple Peanut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address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Purple Peanut, 2357 Whitesburg Dr # D, Huntsville, AL 35801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gmap_id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0x8862134e67ff5c87:0x38b5e2ae99cd1fcf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["Boutique"]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avg_rating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num_of_reviews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latitude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34.7131627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455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longitude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-86.57404149999999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841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0" y="1170432"/>
            <a:ext cx="2880360" cy="1645920"/>
          </a:xfrm>
          <a:prstGeom prst="rect">
            <a:avLst/>
          </a:prstGeom>
          <a:solidFill>
            <a:srgbClr val="F0EDE6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1188720"/>
            <a:ext cx="2743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["Thursday", "Closed"]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["Friday", "10AM–5PM"]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["Saturday", "10AM–3PM"]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["Sunday", "Closed"]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["Monday", "Closed"]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["Tuesday", "10AM–5PM"]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["Wednesday", "10AM–5PM"]</a:t>
            </a:r>
            <a:endParaRPr lang="en-US" sz="950" dirty="0"/>
          </a:p>
        </p:txBody>
      </p:sp>
      <p:sp>
        <p:nvSpPr>
          <p:cNvPr id="5" name="Text 6"/>
          <p:cNvSpPr/>
          <p:nvPr/>
        </p:nvSpPr>
        <p:spPr>
          <a:xfrm>
            <a:off x="5943600" y="29443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3273552"/>
            <a:ext cx="2880360" cy="1481328"/>
          </a:xfrm>
          <a:prstGeom prst="rect">
            <a:avLst/>
          </a:prstGeom>
          <a:solidFill>
            <a:srgbClr val="F0EDE6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3310128"/>
            <a:ext cx="2743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"Service options":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["In-store shopping", "Delivery"]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"Accessibility":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["Wheelchair accessible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entrance"]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"Planning": ["Quick visit"]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 zapisa — Recenzija (review fajl)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5120640" cy="2926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Vrednost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user_id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103378997989317552200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Hadley Coan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1626307876654  →  2021-07-15T...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rating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pics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gmap_id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0x8862134e67ff5c87:0x38b5e2ae99cd1fcf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7947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4096512"/>
            <a:ext cx="5120640" cy="749808"/>
          </a:xfrm>
          <a:prstGeom prst="rect">
            <a:avLst/>
          </a:prstGeom>
          <a:solidFill>
            <a:srgbClr val="EDF4F2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11480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 this little local shop. I shopped for my own kids at Purple Peanut over 25 years ago and now I get to shop here for my grandchildren!..."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0" y="80467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 sa odgovorom vlasnika</a:t>
            </a:r>
            <a:endParaRPr lang="en-US" sz="1250" dirty="0"/>
          </a:p>
        </p:txBody>
      </p:sp>
      <p:sp>
        <p:nvSpPr>
          <p:cNvPr id="5" name="Shape 7"/>
          <p:cNvSpPr/>
          <p:nvPr/>
        </p:nvSpPr>
        <p:spPr>
          <a:xfrm>
            <a:off x="5715000" y="1170432"/>
            <a:ext cx="3154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0" y="1170432"/>
            <a:ext cx="3154680" cy="16459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33872" y="14173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33872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 McCarthy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33872" y="20391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33872" y="2313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★★★★★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33872" y="266090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33872" y="29352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technicians were wonderful and very professional..."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33872" y="32826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resp.time: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33872" y="3557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1629988531658  →  2021-08-26T...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33872" y="39044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resp.text: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33872" y="4178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"Tia, You rock! Thank you so much for your stellar review..."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Podela podataka — Meta vs. Review fajlovi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3931920" cy="47548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FAJLOVI  (places)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gmap_id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latitude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longitude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avg_rating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num_of_reviews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hours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MISC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7408" y="2852928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gmap_id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77724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777240"/>
            <a:ext cx="3931920" cy="475488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7772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FAJLOVI  (reviews)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344168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user_id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pics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  { time, text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gmap_id  ← strani ključ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Predlog logičke šeme u MongoDB-u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840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3840480" cy="38404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Kolekcija: places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3703320" cy="3566160"/>
          </a:xfrm>
          <a:prstGeom prst="rect">
            <a:avLst/>
          </a:prstGeom>
          <a:solidFill>
            <a:srgbClr val="F7F4EE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_id:          ObjectId()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gmap_id:      string  // indexed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        string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address:      string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state_name:   string  // dodato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{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"Point",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coordinates: [lon, lat]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    [string]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avg_rating:   number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num_of_reviews: number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price:        string | null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hours:        [{day, open, close}]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misc:         { ... 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         string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279392" y="2633472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$lookup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51960" y="2907792"/>
            <a:ext cx="7315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279392" y="2907792"/>
            <a:ext cx="676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gmap_id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0" y="777240"/>
            <a:ext cx="3840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777240"/>
            <a:ext cx="3840480" cy="384048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Kolekcija: reviews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1234440"/>
            <a:ext cx="3703320" cy="3566160"/>
          </a:xfrm>
          <a:prstGeom prst="rect">
            <a:avLst/>
          </a:prstGeom>
          <a:solidFill>
            <a:srgbClr val="EDF4F2"/>
          </a:solidFill>
          <a:ln w="12700">
            <a:solidFill>
              <a:srgbClr val="E8E4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298448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_id:        ObjectId()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gmap_id:    string  // indexed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state_name: string  // dodato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user_id:    string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user_name:  string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      ISODate()  // iz Unix ms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rating:     number  (1–5)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      string | null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has_pics:   boolean  // derivirano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 {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time: ISODate() | null,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text: string | null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Upiti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Predloženi upiti po ulogama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Projekat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Upit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011680" cy="347472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Uloga: Vlasnik biznisa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5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Pitanje: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8321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83080"/>
            <a:ext cx="164592" cy="141732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47088"/>
            <a:ext cx="7909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Imam restoran u određenom gradu. Koje usluge i pogodnosti (dostava, WiFi, terasa, pristupačnost...) nude konkurenti iste kategorije u krugu od X km, a moje mesto ne nudi — i kakva im je prosečna ocena u poređenju sa mojom?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Svrha: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730752"/>
            <a:ext cx="83210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730752"/>
            <a:ext cx="164592" cy="1115568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67328"/>
            <a:ext cx="7909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Vlasnik može da identifikuje konkretne prednosti konkurencije u neposrednoj blizini i donese odluku koje usluge da uvede kako bi ostao konkurentan.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Upit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011680" cy="347472"/>
          </a:xfrm>
          <a:prstGeom prst="rect">
            <a:avLst/>
          </a:prstGeom>
          <a:solidFill>
            <a:srgbClr val="5B6E8A"/>
          </a:solidFill>
          <a:ln w="12700">
            <a:solidFill>
              <a:srgbClr val="5B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Uloga: Analitičar tržišta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5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Pitanje: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8321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83080"/>
            <a:ext cx="164592" cy="141732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47088"/>
            <a:ext cx="7909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kojim gradovima ili delovima savezne države postoji kategorija biznisa sa malim brojem mesta ali visokim prosečnim brojem recenzija po </a:t>
            </a:r>
            <a:r>
              <a:rPr lang="en-US" sz="14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mestu</a:t>
            </a: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što ukazuje na veliku potražnju i neiskorišćenu tržišnu nišu?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Svrha: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730752"/>
            <a:ext cx="83210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730752"/>
            <a:ext cx="164592" cy="1115568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67328"/>
            <a:ext cx="7909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Analitičar ili investitor može da prepozna regione gde određena vrsta biznisa nedostaje, a </a:t>
            </a:r>
            <a:r>
              <a:rPr lang="en-US" sz="13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potencijalno</a:t>
            </a:r>
            <a:r>
              <a:rPr lang="en-U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postoji</a:t>
            </a:r>
            <a:r>
              <a:rPr lang="en-U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potra</a:t>
            </a:r>
            <a:r>
              <a:rPr lang="sr-Latn-R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žnja</a:t>
            </a:r>
            <a:r>
              <a:rPr lang="en-U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što predstavlja potencijalnu poslovnu priliku.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Upit 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011680" cy="347472"/>
          </a:xfrm>
          <a:prstGeom prst="rect">
            <a:avLst/>
          </a:prstGeom>
          <a:solidFill>
            <a:srgbClr val="5B6E8A"/>
          </a:solidFill>
          <a:ln w="12700">
            <a:solidFill>
              <a:srgbClr val="5B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Uloga: Analitičar tržišta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5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Pitanje: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8321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83080"/>
            <a:ext cx="164592" cy="141732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47088"/>
            <a:ext cx="7909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li postoji veza između cenovnog ranga biznisa ($, $$, $$$, $$$$) i prosečne ocene </a:t>
            </a:r>
            <a:r>
              <a:rPr lang="en-US" sz="14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korisnika</a:t>
            </a: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koji cenovni rang ima najzadovoljnije korisnike, i da li se taj odnos razlikuje između saveznih država?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Svrha: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730752"/>
            <a:ext cx="83210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730752"/>
            <a:ext cx="164592" cy="1115568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67328"/>
            <a:ext cx="7909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Analitičar može da utvrdi da li viša cena garantuje bolje korisničko iskustvo, ili postoje cenovni rangovi koji nude izuzetnu vrednost za </a:t>
            </a:r>
            <a:r>
              <a:rPr lang="en-US" sz="13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</a:t>
            </a:r>
            <a:r>
              <a:rPr lang="en-U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korisno pri pozicioniranju novog biznisa.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Upit 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011680" cy="347472"/>
          </a:xfrm>
          <a:prstGeom prst="rect">
            <a:avLst/>
          </a:prstGeom>
          <a:solidFill>
            <a:srgbClr val="5B6E8A"/>
          </a:solidFill>
          <a:ln w="12700">
            <a:solidFill>
              <a:srgbClr val="5B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Uloga: Analitičar tržišta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5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Pitanje: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8321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83080"/>
            <a:ext cx="164592" cy="141732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47088"/>
            <a:ext cx="7909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 biznisi su u kratkom vremenskom periodu (npr. 30 dana) zabeležili nagli skok broja negativnih recenzija (ocena 1–2) koji statistički odskače od njihovog uobičajenog </a:t>
            </a:r>
            <a:r>
              <a:rPr lang="en-US" sz="14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obrasca</a:t>
            </a: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što može ukazivati na realan incident, organizovanu kampanju ili sistemski pad kvaliteta?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Svrha: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730752"/>
            <a:ext cx="83210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730752"/>
            <a:ext cx="164592" cy="1115568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67328"/>
            <a:ext cx="7909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Analitičar ili vlasnik može da pravovremeno detektuje krizu reputacije, istraži uzrok nagle promene i preduzme mere pre nego što dugoročna šteta </a:t>
            </a:r>
            <a:r>
              <a:rPr lang="en-US" sz="13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postane</a:t>
            </a:r>
            <a:r>
              <a:rPr lang="en-U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nepopravljiva</a:t>
            </a:r>
            <a:r>
              <a:rPr lang="sr-Latn-R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Alternativno možda novi investitor može iskoristiti priliku i otvoriti suparnički biznis u blizini koji ima veću šansu da uspe jer se konukrencija urušava.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Upit 5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011680" cy="347472"/>
          </a:xfrm>
          <a:prstGeom prst="rect">
            <a:avLst/>
          </a:prstGeom>
          <a:solidFill>
            <a:srgbClr val="5B6E8A"/>
          </a:solidFill>
          <a:ln w="12700">
            <a:solidFill>
              <a:srgbClr val="5B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Uloga: Analitičar tržišta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5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Pitanje: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8321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83080"/>
            <a:ext cx="164592" cy="141732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47088"/>
            <a:ext cx="7909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 biznisi imaju neuobičajeno visok procenat recenzija bez tekstualnog komentara (samo ocena), u poređenju sa prosekom za svoju </a:t>
            </a:r>
            <a:r>
              <a:rPr lang="en-US" sz="145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kategoriju</a:t>
            </a: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što može ukazivati na neautentične ocene i time na nepouzdanost njihovog rejtinga?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Svrha: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730752"/>
            <a:ext cx="83210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730752"/>
            <a:ext cx="164592" cy="1115568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67328"/>
            <a:ext cx="7909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Analitičar može da identifikuje biznise čija prosečna ocena nije pouzdana zbog sumnjivog obrasca ocenjivanja, što je korisno pri rangiranju i preporuci biznisa korisnicima.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6459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Hvala na pažnji!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recenzije biznisa  ·  Alabama, Alaska, Vermont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4553A"/>
          </a:solidFill>
          <a:ln w="12700">
            <a:solidFill>
              <a:srgbClr val="C45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Projekat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1544</Words>
  <Application>Microsoft Office PowerPoint</Application>
  <PresentationFormat>On-screen Show (16:9)</PresentationFormat>
  <Paragraphs>303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Google Maps recenzija biznisa</dc:title>
  <dc:subject>PptxGenJS Presentation</dc:subject>
  <dc:creator>PptxGenJS</dc:creator>
  <cp:lastModifiedBy>Ivan</cp:lastModifiedBy>
  <cp:revision>3</cp:revision>
  <dcterms:created xsi:type="dcterms:W3CDTF">2026-05-28T10:51:21Z</dcterms:created>
  <dcterms:modified xsi:type="dcterms:W3CDTF">2026-05-28T10:59:07Z</dcterms:modified>
</cp:coreProperties>
</file>